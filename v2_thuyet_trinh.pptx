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9de530fb-3ca8-5d36-8c72-953566438546}">
          <p14:sldIdLst>
            <p14:sldId id="256"/>
          </p14:sldIdLst>
        </p14:section>
        <p14:section name="Nội dung" id="{d368d9f0-cccb-aab1-c03e-3c7e458e886b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Kết" id="{6c6dafa6-3f7d-1216-2046-7b2e2b54c6e0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nhanh file v2.py: ứng dụng desktop viết bằng Python để phân tích cơ cấu 4 khâu bản lề (AB, BC, CD, giá 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nhóm chức năng chính. Toàn bộ nằm trong một file v2.py khoảng 2.400 dòng.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Ảnh chụp thật từ v2.py ở nền sáng: hàng tab, lược đồ cơ cấu, phân tích cấu trúc và bảng nhập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được chia 5 vùng có khối lượng gần bằng nhau, ghép thành lớp CoCauDashboard bằng mixin.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Bậc tự do W = 1 nên chỉ cần một khâu dẫn là 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lần lượt: vị trí (giao hai đường tròn), vận tốc và gia tốc (hệ phương trình tuyến tính 2×2). Quy ước: góc quay dương là ngược chiều kim đồng hồ.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quả của preset PA1 (φ₂ = 10°, ω₂ = 5 rad/s cùng chiều kim đồng hồ).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bên trái là hai preset PA1/PA2 có sẵn trong code. Bên phải là các đầu ra: mô phỏng, lịch sử, xuất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Chạy bằng python3 v2.py. Cần tkinter, numpy và matplotlib.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512064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01752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hãn"/>
          <p:cNvSpPr txBox="1"/>
          <p:nvPr/>
        </p:nvSpPr>
        <p:spPr>
          <a:xfrm>
            <a:off x="548640" y="685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v2.py  ·  PYTHON  ·  TKINTER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Ứng dụng phân tích cơ cấu 4 khâu bản lề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017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Dashboard nhập thông số, giải động học, vẽ họa đồ và mô phỏng</a:t>
            </a:r>
            <a:endParaRPr lang="en-US" sz="1800" dirty="0"/>
          </a:p>
        </p:txBody>
      </p:sp>
      <p:sp>
        <p:nvSpPr>
          <p:cNvPr id="5" name="Giá AD"/>
          <p:cNvSpPr/>
          <p:nvPr/>
        </p:nvSpPr>
        <p:spPr>
          <a:xfrm>
            <a:off x="6309360" y="4023360"/>
            <a:ext cx="20116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</a:ln>
        </p:spPr>
      </p:sp>
      <p:sp>
        <p:nvSpPr>
          <p:cNvPr id="6" name="Khâu AB"/>
          <p:cNvSpPr/>
          <p:nvPr/>
        </p:nvSpPr>
        <p:spPr>
          <a:xfrm flipV="1">
            <a:off x="6309360" y="2468880"/>
            <a:ext cx="365760" cy="155448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7" name="Khâu BC"/>
          <p:cNvSpPr/>
          <p:nvPr/>
        </p:nvSpPr>
        <p:spPr>
          <a:xfrm>
            <a:off x="6675120" y="2468880"/>
            <a:ext cx="1280160" cy="27432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8" name="Khâu CD"/>
          <p:cNvSpPr/>
          <p:nvPr/>
        </p:nvSpPr>
        <p:spPr>
          <a:xfrm>
            <a:off x="7955280" y="2743200"/>
            <a:ext cx="365760" cy="1280160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9" name="Khớp A"/>
          <p:cNvSpPr/>
          <p:nvPr/>
        </p:nvSpPr>
        <p:spPr>
          <a:xfrm>
            <a:off x="6190488" y="3904488"/>
            <a:ext cx="237744" cy="23774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0" name="Nhãn A"/>
          <p:cNvSpPr txBox="1"/>
          <p:nvPr/>
        </p:nvSpPr>
        <p:spPr>
          <a:xfrm>
            <a:off x="6016752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Khớp D"/>
          <p:cNvSpPr/>
          <p:nvPr/>
        </p:nvSpPr>
        <p:spPr>
          <a:xfrm>
            <a:off x="8202168" y="3904488"/>
            <a:ext cx="237744" cy="23774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2" name="Nhãn D"/>
          <p:cNvSpPr txBox="1"/>
          <p:nvPr/>
        </p:nvSpPr>
        <p:spPr>
          <a:xfrm>
            <a:off x="85039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</a:t>
            </a:r>
            <a:endParaRPr lang="en-US" sz="1400" dirty="0"/>
          </a:p>
        </p:txBody>
      </p:sp>
      <p:sp>
        <p:nvSpPr>
          <p:cNvPr id="13" name="Khớp B"/>
          <p:cNvSpPr/>
          <p:nvPr/>
        </p:nvSpPr>
        <p:spPr>
          <a:xfrm>
            <a:off x="6556248" y="2350008"/>
            <a:ext cx="237744" cy="23774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4" name="Nhãn B"/>
          <p:cNvSpPr txBox="1"/>
          <p:nvPr/>
        </p:nvSpPr>
        <p:spPr>
          <a:xfrm>
            <a:off x="6382512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Khớp C"/>
          <p:cNvSpPr/>
          <p:nvPr/>
        </p:nvSpPr>
        <p:spPr>
          <a:xfrm>
            <a:off x="7836408" y="2624328"/>
            <a:ext cx="237744" cy="23774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6" name="Nhãn C"/>
          <p:cNvSpPr txBox="1"/>
          <p:nvPr/>
        </p:nvSpPr>
        <p:spPr>
          <a:xfrm>
            <a:off x="811987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Ứng dụng làm được gì</a:t>
            </a:r>
            <a:endParaRPr lang="en-US" sz="3200" dirty="0"/>
          </a:p>
        </p:txBody>
      </p:sp>
      <p:sp>
        <p:nvSpPr>
          <p:cNvPr id="3" name="Thẻ Nhập thông số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Icon Nhập thông số nền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Nhập thông số" descr="Icon Nhập thông s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586484"/>
            <a:ext cx="210312" cy="210312"/>
          </a:xfrm>
          <a:prstGeom prst="rect">
            <a:avLst/>
          </a:prstGeom>
        </p:spPr>
      </p:pic>
      <p:sp>
        <p:nvSpPr>
          <p:cNvPr id="6" name="Tiêu đề Nhập thông số"/>
          <p:cNvSpPr txBox="1"/>
          <p:nvPr/>
        </p:nvSpPr>
        <p:spPr>
          <a:xfrm>
            <a:off x="123444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Nhập thông số</a:t>
            </a:r>
            <a:endParaRPr lang="en-US" sz="1600" dirty="0"/>
          </a:p>
        </p:txBody>
      </p:sp>
      <p:sp>
        <p:nvSpPr>
          <p:cNvPr id="7" name="Mô tả Nhập thông số"/>
          <p:cNvSpPr txBox="1"/>
          <p:nvPr/>
        </p:nvSpPr>
        <p:spPr>
          <a:xfrm>
            <a:off x="64008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16 trường, 2 preset PA1/PA2, kiểm tra hợp lệ</a:t>
            </a:r>
            <a:endParaRPr lang="en-US" sz="1400" dirty="0"/>
          </a:p>
        </p:txBody>
      </p:sp>
      <p:sp>
        <p:nvSpPr>
          <p:cNvPr id="8" name="Thẻ Phân tích cấu trúc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Icon Phân tích cấu trúc nền"/>
          <p:cNvSpPr/>
          <p:nvPr/>
        </p:nvSpPr>
        <p:spPr>
          <a:xfrm>
            <a:off x="34290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Phân tích cấu trúc" descr="Icon Phân tích cấu trú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44" y="1586484"/>
            <a:ext cx="210312" cy="210312"/>
          </a:xfrm>
          <a:prstGeom prst="rect">
            <a:avLst/>
          </a:prstGeom>
        </p:spPr>
      </p:pic>
      <p:sp>
        <p:nvSpPr>
          <p:cNvPr id="11" name="Tiêu đề Phân tích cấu trúc"/>
          <p:cNvSpPr txBox="1"/>
          <p:nvPr/>
        </p:nvSpPr>
        <p:spPr>
          <a:xfrm>
            <a:off x="402336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Phân tích cấu trúc</a:t>
            </a:r>
            <a:endParaRPr lang="en-US" sz="1600" dirty="0"/>
          </a:p>
        </p:txBody>
      </p:sp>
      <p:sp>
        <p:nvSpPr>
          <p:cNvPr id="12" name="Mô tả Phân tích cấu trúc"/>
          <p:cNvSpPr txBox="1"/>
          <p:nvPr/>
        </p:nvSpPr>
        <p:spPr>
          <a:xfrm>
            <a:off x="342900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Bậc tự do W, nhóm Assur, xếp loại cơ cấu</a:t>
            </a:r>
            <a:endParaRPr lang="en-US" sz="1400" dirty="0"/>
          </a:p>
        </p:txBody>
      </p:sp>
      <p:sp>
        <p:nvSpPr>
          <p:cNvPr id="13" name="Thẻ Vận tốc &amp; gia tốc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Icon Vận tốc &amp; gia tốc nền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Vận tốc &amp; gia tốc" descr="Icon Vận tốc &amp; gia tố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64" y="1586484"/>
            <a:ext cx="210312" cy="210312"/>
          </a:xfrm>
          <a:prstGeom prst="rect">
            <a:avLst/>
          </a:prstGeom>
        </p:spPr>
      </p:pic>
      <p:sp>
        <p:nvSpPr>
          <p:cNvPr id="16" name="Tiêu đề Vận tốc &amp;amp; gia tốc"/>
          <p:cNvSpPr txBox="1"/>
          <p:nvPr/>
        </p:nvSpPr>
        <p:spPr>
          <a:xfrm>
            <a:off x="681228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Vận tốc &amp; gia tốc</a:t>
            </a:r>
            <a:endParaRPr lang="en-US" sz="1600" dirty="0"/>
          </a:p>
        </p:txBody>
      </p:sp>
      <p:sp>
        <p:nvSpPr>
          <p:cNvPr id="17" name="Mô tả Vận tốc &amp;amp; gia tốc"/>
          <p:cNvSpPr txBox="1"/>
          <p:nvPr/>
        </p:nvSpPr>
        <p:spPr>
          <a:xfrm>
            <a:off x="621792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Giải hệ vectơ cho ω, ε và các điểm B, C, M, E</a:t>
            </a:r>
            <a:endParaRPr lang="en-US" sz="1400" dirty="0"/>
          </a:p>
        </p:txBody>
      </p:sp>
      <p:sp>
        <p:nvSpPr>
          <p:cNvPr id="18" name="Thẻ Lược đồ &amp; họa đồ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Icon Lược đồ &amp; họa đồ nền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Lược đồ &amp; họa đồ" descr="Icon Lược đồ &amp; họa đồ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278124"/>
            <a:ext cx="210312" cy="210312"/>
          </a:xfrm>
          <a:prstGeom prst="rect">
            <a:avLst/>
          </a:prstGeom>
        </p:spPr>
      </p:pic>
      <p:sp>
        <p:nvSpPr>
          <p:cNvPr id="21" name="Tiêu đề Lược đồ &amp;amp; họa đồ"/>
          <p:cNvSpPr txBox="1"/>
          <p:nvPr/>
        </p:nvSpPr>
        <p:spPr>
          <a:xfrm>
            <a:off x="12344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Lược đồ &amp; họa đồ</a:t>
            </a:r>
            <a:endParaRPr lang="en-US" sz="1600" dirty="0"/>
          </a:p>
        </p:txBody>
      </p:sp>
      <p:sp>
        <p:nvSpPr>
          <p:cNvPr id="22" name="Mô tả Lược đồ &amp;amp; họa đồ"/>
          <p:cNvSpPr txBox="1"/>
          <p:nvPr/>
        </p:nvSpPr>
        <p:spPr>
          <a:xfrm>
            <a:off x="64008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Vẽ cơ cấu, đa giác vận tốc và gia tốc</a:t>
            </a:r>
            <a:endParaRPr lang="en-US" sz="1400" dirty="0"/>
          </a:p>
        </p:txBody>
      </p:sp>
      <p:sp>
        <p:nvSpPr>
          <p:cNvPr id="23" name="Thẻ Mô phỏng &amp; xuất file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4" name="Icon Mô phỏng &amp; xuất file nền"/>
          <p:cNvSpPr/>
          <p:nvPr/>
        </p:nvSpPr>
        <p:spPr>
          <a:xfrm>
            <a:off x="342900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Mô phỏng &amp; xuất file" descr="Icon Mô phỏng &amp; xuất fi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444" y="3278124"/>
            <a:ext cx="210312" cy="210312"/>
          </a:xfrm>
          <a:prstGeom prst="rect">
            <a:avLst/>
          </a:prstGeom>
        </p:spPr>
      </p:pic>
      <p:sp>
        <p:nvSpPr>
          <p:cNvPr id="26" name="Tiêu đề Mô phỏng &amp;amp; xuất file"/>
          <p:cNvSpPr txBox="1"/>
          <p:nvPr/>
        </p:nvSpPr>
        <p:spPr>
          <a:xfrm>
            <a:off x="402336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Mô phỏng &amp; xuất file</a:t>
            </a:r>
            <a:endParaRPr lang="en-US" sz="1600" dirty="0"/>
          </a:p>
        </p:txBody>
      </p:sp>
      <p:sp>
        <p:nvSpPr>
          <p:cNvPr id="27" name="Mô tả Mô phỏng &amp;amp; xuất file"/>
          <p:cNvSpPr txBox="1"/>
          <p:nvPr/>
        </p:nvSpPr>
        <p:spPr>
          <a:xfrm>
            <a:off x="342900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Hoạt ảnh quay φ₂, lịch sử, xuất PNG/PDF + TXT</a:t>
            </a:r>
            <a:endParaRPr lang="en-US" sz="1400" dirty="0"/>
          </a:p>
        </p:txBody>
      </p:sp>
      <p:sp>
        <p:nvSpPr>
          <p:cNvPr id="28" name="Thẻ số liệu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</p:sp>
      <p:sp>
        <p:nvSpPr>
          <p:cNvPr id="29" name="Số dòng"/>
          <p:cNvSpPr txBox="1"/>
          <p:nvPr/>
        </p:nvSpPr>
        <p:spPr>
          <a:xfrm>
            <a:off x="621792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2.388</a:t>
            </a:r>
            <a:endParaRPr lang="en-US" sz="4800" dirty="0"/>
          </a:p>
        </p:txBody>
      </p:sp>
      <p:sp>
        <p:nvSpPr>
          <p:cNvPr id="30" name="Chú thích số dòng"/>
          <p:cNvSpPr txBox="1"/>
          <p:nvPr/>
        </p:nvSpPr>
        <p:spPr>
          <a:xfrm>
            <a:off x="6217920" y="3931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dòng code, chia thành 5 phần trong một file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Giao diện dashboard</a:t>
            </a:r>
            <a:endParaRPr lang="en-US" sz="3200" dirty="0"/>
          </a:p>
        </p:txBody>
      </p:sp>
      <p:sp>
        <p:nvSpPr>
          <p:cNvPr id="3" name="Khung ảnh giao diện"/>
          <p:cNvSpPr/>
          <p:nvPr/>
        </p:nvSpPr>
        <p:spPr>
          <a:xfrm>
            <a:off x="365760" y="1188720"/>
            <a:ext cx="5486400" cy="3392905"/>
          </a:xfrm>
          <a:prstGeom prst="roundRect">
            <a:avLst>
              <a:gd name="adj" fmla="val 2156"/>
            </a:avLst>
          </a:prstGeom>
          <a:solidFill>
            <a:schemeClr val="bg2"/>
          </a:solidFill>
          <a:ln/>
        </p:spPr>
      </p:sp>
      <p:pic>
        <p:nvPicPr>
          <p:cNvPr id="4" name="Ảnh giao diện" descr="Ảnh chụp giao diện dashboard, tab Cấu trú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303520" cy="3210025"/>
          </a:xfrm>
          <a:prstGeom prst="rect">
            <a:avLst/>
          </a:prstGeom>
        </p:spPr>
      </p:pic>
      <p:sp>
        <p:nvSpPr>
          <p:cNvPr id="5" name="Icon Tab kết quả nền"/>
          <p:cNvSpPr/>
          <p:nvPr/>
        </p:nvSpPr>
        <p:spPr>
          <a:xfrm>
            <a:off x="612648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Tab kết quả" descr="Icon Tab kết quả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924" y="1403604"/>
            <a:ext cx="210312" cy="210312"/>
          </a:xfrm>
          <a:prstGeom prst="rect">
            <a:avLst/>
          </a:prstGeom>
        </p:spPr>
      </p:pic>
      <p:sp>
        <p:nvSpPr>
          <p:cNvPr id="7" name="Tiêu đề Tab kết quả"/>
          <p:cNvSpPr txBox="1"/>
          <p:nvPr/>
        </p:nvSpPr>
        <p:spPr>
          <a:xfrm>
            <a:off x="6720840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 kết quả</a:t>
            </a:r>
            <a:endParaRPr lang="en-US" sz="1600" dirty="0"/>
          </a:p>
        </p:txBody>
      </p:sp>
      <p:sp>
        <p:nvSpPr>
          <p:cNvPr id="8" name="Mô tả Tab kết quả"/>
          <p:cNvSpPr txBox="1"/>
          <p:nvPr/>
        </p:nvSpPr>
        <p:spPr>
          <a:xfrm>
            <a:off x="61264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 tab, nội dung chỉ xem</a:t>
            </a:r>
            <a:endParaRPr lang="en-US" sz="1400" dirty="0"/>
          </a:p>
        </p:txBody>
      </p:sp>
      <p:sp>
        <p:nvSpPr>
          <p:cNvPr id="9" name="Icon Bảng nhập liệu nền"/>
          <p:cNvSpPr/>
          <p:nvPr/>
        </p:nvSpPr>
        <p:spPr>
          <a:xfrm>
            <a:off x="612648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Bảng nhập liệu" descr="Icon Bảng nhập liệ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4" y="2500884"/>
            <a:ext cx="210312" cy="210312"/>
          </a:xfrm>
          <a:prstGeom prst="rect">
            <a:avLst/>
          </a:prstGeom>
        </p:spPr>
      </p:pic>
      <p:sp>
        <p:nvSpPr>
          <p:cNvPr id="11" name="Tiêu đề Bảng nhập liệu"/>
          <p:cNvSpPr txBox="1"/>
          <p:nvPr/>
        </p:nvSpPr>
        <p:spPr>
          <a:xfrm>
            <a:off x="672084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Bảng nhập liệu</a:t>
            </a:r>
            <a:endParaRPr lang="en-US" sz="1600" dirty="0"/>
          </a:p>
        </p:txBody>
      </p:sp>
      <p:sp>
        <p:nvSpPr>
          <p:cNvPr id="12" name="Mô tả Bảng nhập liệu"/>
          <p:cNvSpPr txBox="1"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16 trường số và nút nạp PA1/PA2</a:t>
            </a:r>
            <a:endParaRPr lang="en-US" sz="1400" dirty="0"/>
          </a:p>
        </p:txBody>
      </p:sp>
      <p:sp>
        <p:nvSpPr>
          <p:cNvPr id="13" name="Icon Nền sáng / tối nền"/>
          <p:cNvSpPr/>
          <p:nvPr/>
        </p:nvSpPr>
        <p:spPr>
          <a:xfrm>
            <a:off x="6126480" y="3474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Nền sáng / tối" descr="Icon Nền sáng / tố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4" y="3598164"/>
            <a:ext cx="210312" cy="210312"/>
          </a:xfrm>
          <a:prstGeom prst="rect">
            <a:avLst/>
          </a:prstGeom>
        </p:spPr>
      </p:pic>
      <p:sp>
        <p:nvSpPr>
          <p:cNvPr id="15" name="Tiêu đề Nền sáng / tối"/>
          <p:cNvSpPr txBox="1"/>
          <p:nvPr/>
        </p:nvSpPr>
        <p:spPr>
          <a:xfrm>
            <a:off x="6720840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Nền sáng / tối</a:t>
            </a:r>
            <a:endParaRPr lang="en-US" sz="1600" dirty="0"/>
          </a:p>
        </p:txBody>
      </p:sp>
      <p:sp>
        <p:nvSpPr>
          <p:cNvPr id="16" name="Mô tả Nền sáng / tối"/>
          <p:cNvSpPr txBox="1"/>
          <p:nvPr/>
        </p:nvSpPr>
        <p:spPr>
          <a:xfrm>
            <a:off x="612648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Đổi theme bằng một nút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Cấu trúc code: 5 phần</a:t>
            </a:r>
            <a:endParaRPr lang="en-US" sz="3200" dirty="0"/>
          </a:p>
        </p:txBody>
      </p:sp>
      <p:sp>
        <p:nvSpPr>
          <p:cNvPr id="3" name="Hàng phần 1"/>
          <p:cNvSpPr/>
          <p:nvPr/>
        </p:nvSpPr>
        <p:spPr>
          <a:xfrm>
            <a:off x="457200" y="128016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4" name="Số 1"/>
          <p:cNvSpPr/>
          <p:nvPr/>
        </p:nvSpPr>
        <p:spPr>
          <a:xfrm>
            <a:off x="594360" y="1380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hữ số 1"/>
          <p:cNvSpPr txBox="1"/>
          <p:nvPr/>
        </p:nvSpPr>
        <p:spPr>
          <a:xfrm>
            <a:off x="594360" y="138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Nội dung phần 1"/>
          <p:cNvSpPr txBox="1"/>
          <p:nvPr/>
        </p:nvSpPr>
        <p:spPr>
          <a:xfrm>
            <a:off x="1143000" y="13258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Nền tảng giao diện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Theme sáng/tối, font, preset, widget dùng chung</a:t>
            </a:r>
            <a:endParaRPr lang="en-US" sz="1400" dirty="0"/>
          </a:p>
        </p:txBody>
      </p:sp>
      <p:sp>
        <p:nvSpPr>
          <p:cNvPr id="7" name="Hàng phần 2"/>
          <p:cNvSpPr/>
          <p:nvPr/>
        </p:nvSpPr>
        <p:spPr>
          <a:xfrm>
            <a:off x="457200" y="1938528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8" name="Số 2"/>
          <p:cNvSpPr/>
          <p:nvPr/>
        </p:nvSpPr>
        <p:spPr>
          <a:xfrm>
            <a:off x="594360" y="20391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Chữ số 2"/>
          <p:cNvSpPr txBox="1"/>
          <p:nvPr/>
        </p:nvSpPr>
        <p:spPr>
          <a:xfrm>
            <a:off x="59436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Nội dung phần 2"/>
          <p:cNvSpPr txBox="1"/>
          <p:nvPr/>
        </p:nvSpPr>
        <p:spPr>
          <a:xfrm>
            <a:off x="1143000" y="19842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Bố cục &amp; nhập liệu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Header, tab, form nhập, đọc và kiểm tra dữ liệu</a:t>
            </a:r>
            <a:endParaRPr lang="en-US" sz="1400" dirty="0"/>
          </a:p>
        </p:txBody>
      </p:sp>
      <p:sp>
        <p:nvSpPr>
          <p:cNvPr id="11" name="Hàng phần 3"/>
          <p:cNvSpPr/>
          <p:nvPr/>
        </p:nvSpPr>
        <p:spPr>
          <a:xfrm>
            <a:off x="457200" y="2596896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2" name="Số 3"/>
          <p:cNvSpPr/>
          <p:nvPr/>
        </p:nvSpPr>
        <p:spPr>
          <a:xfrm>
            <a:off x="594360" y="2697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Chữ số 3"/>
          <p:cNvSpPr txBox="1"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Nội dung phần 3"/>
          <p:cNvSpPr txBox="1"/>
          <p:nvPr/>
        </p:nvSpPr>
        <p:spPr>
          <a:xfrm>
            <a:off x="1143000" y="264261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Giải động học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Vị trí, vận tốc, gia tốc, văn bản báo cáo</a:t>
            </a:r>
            <a:endParaRPr lang="en-US" sz="1400" dirty="0"/>
          </a:p>
        </p:txBody>
      </p:sp>
      <p:sp>
        <p:nvSpPr>
          <p:cNvPr id="15" name="Hàng phần 4"/>
          <p:cNvSpPr/>
          <p:nvPr/>
        </p:nvSpPr>
        <p:spPr>
          <a:xfrm>
            <a:off x="457200" y="3255264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6" name="Số 4"/>
          <p:cNvSpPr/>
          <p:nvPr/>
        </p:nvSpPr>
        <p:spPr>
          <a:xfrm>
            <a:off x="594360" y="33558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Chữ số 4"/>
          <p:cNvSpPr txBox="1"/>
          <p:nvPr/>
        </p:nvSpPr>
        <p:spPr>
          <a:xfrm>
            <a:off x="59436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Nội dung phần 4"/>
          <p:cNvSpPr txBox="1"/>
          <p:nvPr/>
        </p:nvSpPr>
        <p:spPr>
          <a:xfrm>
            <a:off x="1143000" y="33009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Vẽ hình &amp; họa đồ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Lược đồ, vectơ, họa đồ, trang mô phỏng</a:t>
            </a:r>
            <a:endParaRPr lang="en-US" sz="1400" dirty="0"/>
          </a:p>
        </p:txBody>
      </p:sp>
      <p:sp>
        <p:nvSpPr>
          <p:cNvPr id="19" name="Hàng phần 5"/>
          <p:cNvSpPr/>
          <p:nvPr/>
        </p:nvSpPr>
        <p:spPr>
          <a:xfrm>
            <a:off x="457200" y="3913632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0" name="Số 5"/>
          <p:cNvSpPr/>
          <p:nvPr/>
        </p:nvSpPr>
        <p:spPr>
          <a:xfrm>
            <a:off x="594360" y="40142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Chữ số 5"/>
          <p:cNvSpPr txBox="1"/>
          <p:nvPr/>
        </p:nvSpPr>
        <p:spPr>
          <a:xfrm>
            <a:off x="5943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Nội dung phần 5"/>
          <p:cNvSpPr txBox="1"/>
          <p:nvPr/>
        </p:nvSpPr>
        <p:spPr>
          <a:xfrm>
            <a:off x="1143000" y="3959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Điều phối &amp; xuất file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Luồng tính toán, hoạt ảnh, lịch sử, xuất PNG/PDF/TXT</a:t>
            </a:r>
            <a:endParaRPr lang="en-US" sz="1400" dirty="0"/>
          </a:p>
        </p:txBody>
      </p:sp>
      <p:sp>
        <p:nvSpPr>
          <p:cNvPr id="23" name="Khung thư viện"/>
          <p:cNvSpPr/>
          <p:nvPr/>
        </p:nvSpPr>
        <p:spPr>
          <a:xfrm>
            <a:off x="6035040" y="1280160"/>
            <a:ext cx="2651760" cy="3200400"/>
          </a:xfrm>
          <a:prstGeom prst="roundRect">
            <a:avLst>
              <a:gd name="adj" fmla="val 2759"/>
            </a:avLst>
          </a:prstGeom>
          <a:solidFill>
            <a:schemeClr val="accent1"/>
          </a:solidFill>
          <a:ln/>
        </p:spPr>
      </p:sp>
      <p:sp>
        <p:nvSpPr>
          <p:cNvPr id="24" name="Danh sách thư viện"/>
          <p:cNvSpPr txBox="1"/>
          <p:nvPr/>
        </p:nvSpPr>
        <p:spPr>
          <a:xfrm>
            <a:off x="6217920" y="146304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Thư viện sử dụng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tkinter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giao diện desktop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numpy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vectơ, giải hệ phương trình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matplotlib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lược đồ, họa đồ, mô phỏng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json · datetime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lưu lịch sử, đặt tên file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Phân tích cấu trúc cơ cấu</a:t>
            </a:r>
            <a:endParaRPr lang="en-US" sz="3200" dirty="0"/>
          </a:p>
        </p:txBody>
      </p:sp>
      <p:sp>
        <p:nvSpPr>
          <p:cNvPr id="3" name="Thẻ n = 3"/>
          <p:cNvSpPr/>
          <p:nvPr/>
        </p:nvSpPr>
        <p:spPr>
          <a:xfrm>
            <a:off x="45720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ố n = 3"/>
          <p:cNvSpPr txBox="1"/>
          <p:nvPr/>
        </p:nvSpPr>
        <p:spPr>
          <a:xfrm>
            <a:off x="64008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 = 3</a:t>
            </a:r>
            <a:endParaRPr lang="en-US" sz="4000" dirty="0"/>
          </a:p>
        </p:txBody>
      </p:sp>
      <p:sp>
        <p:nvSpPr>
          <p:cNvPr id="5" name="Chú thích n = 3"/>
          <p:cNvSpPr txBox="1"/>
          <p:nvPr/>
        </p:nvSpPr>
        <p:spPr>
          <a:xfrm>
            <a:off x="64008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khâu động: AB, BC, CD</a:t>
            </a:r>
            <a:endParaRPr lang="en-US" sz="1400" dirty="0"/>
          </a:p>
        </p:txBody>
      </p:sp>
      <p:sp>
        <p:nvSpPr>
          <p:cNvPr id="6" name="Thẻ p₅ = 4"/>
          <p:cNvSpPr/>
          <p:nvPr/>
        </p:nvSpPr>
        <p:spPr>
          <a:xfrm>
            <a:off x="324612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7" name="Số p₅ = 4"/>
          <p:cNvSpPr txBox="1"/>
          <p:nvPr/>
        </p:nvSpPr>
        <p:spPr>
          <a:xfrm>
            <a:off x="34290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p₅ = 4</a:t>
            </a:r>
            <a:endParaRPr lang="en-US" sz="4000" dirty="0"/>
          </a:p>
        </p:txBody>
      </p:sp>
      <p:sp>
        <p:nvSpPr>
          <p:cNvPr id="8" name="Chú thích p₅ = 4"/>
          <p:cNvSpPr txBox="1"/>
          <p:nvPr/>
        </p:nvSpPr>
        <p:spPr>
          <a:xfrm>
            <a:off x="342900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khớp quay loại 5: A, B, C, D</a:t>
            </a:r>
            <a:endParaRPr lang="en-US" sz="1400" dirty="0"/>
          </a:p>
        </p:txBody>
      </p:sp>
      <p:sp>
        <p:nvSpPr>
          <p:cNvPr id="9" name="Thẻ W = 1"/>
          <p:cNvSpPr/>
          <p:nvPr/>
        </p:nvSpPr>
        <p:spPr>
          <a:xfrm>
            <a:off x="603504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Số W = 1"/>
          <p:cNvSpPr txBox="1"/>
          <p:nvPr/>
        </p:nvSpPr>
        <p:spPr>
          <a:xfrm>
            <a:off x="621792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W = 1</a:t>
            </a:r>
            <a:endParaRPr lang="en-US" sz="4000" dirty="0"/>
          </a:p>
        </p:txBody>
      </p:sp>
      <p:sp>
        <p:nvSpPr>
          <p:cNvPr id="11" name="Chú thích W = 1"/>
          <p:cNvSpPr txBox="1"/>
          <p:nvPr/>
        </p:nvSpPr>
        <p:spPr>
          <a:xfrm>
            <a:off x="621792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bậc tự do: W = 3n − 2p₅ − p₄</a:t>
            </a:r>
            <a:endParaRPr lang="en-US" sz="1400" dirty="0"/>
          </a:p>
        </p:txBody>
      </p:sp>
      <p:sp>
        <p:nvSpPr>
          <p:cNvPr id="12" name="Khung xếp loại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13" name="Nội dung xếp loại"/>
          <p:cNvSpPr txBox="1"/>
          <p:nvPr/>
        </p:nvSpPr>
        <p:spPr>
          <a:xfrm>
            <a:off x="73152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Cơ cấu loại 2 (hạng II)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Khâu dẫn AB (loại I) ghép với nhóm Assur dạng RRR gồm BC và CD, có bậc tự do của nhóm bằng 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Cách giải động học</a:t>
            </a:r>
            <a:endParaRPr lang="en-US" sz="3200" dirty="0"/>
          </a:p>
        </p:txBody>
      </p:sp>
      <p:sp>
        <p:nvSpPr>
          <p:cNvPr id="3" name="Thẻ bước 1"/>
          <p:cNvSpPr/>
          <p:nvPr/>
        </p:nvSpPr>
        <p:spPr>
          <a:xfrm>
            <a:off x="457200" y="1280160"/>
            <a:ext cx="265176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4" name="Số bước 1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hữ số bước 1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ên bước 1"/>
          <p:cNvSpPr txBox="1"/>
          <p:nvPr/>
        </p:nvSpPr>
        <p:spPr>
          <a:xfrm>
            <a:off x="118872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Vị trí</a:t>
            </a:r>
            <a:endParaRPr lang="en-US" sz="1800" dirty="0"/>
          </a:p>
        </p:txBody>
      </p:sp>
      <p:sp>
        <p:nvSpPr>
          <p:cNvPr id="7" name="Tên hàm 1"/>
          <p:cNvSpPr txBox="1"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solve_positions()</a:t>
            </a:r>
            <a:endParaRPr lang="en-US" sz="1200" dirty="0"/>
          </a:p>
        </p:txBody>
      </p:sp>
      <p:sp>
        <p:nvSpPr>
          <p:cNvPr id="8" name="Nội dung bước 1"/>
          <p:cNvSpPr txBox="1"/>
          <p:nvPr/>
        </p:nvSpPr>
        <p:spPr>
          <a:xfrm>
            <a:off x="640080" y="2377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 quay quanh A theo φ₂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 = giao hai đường tròn (B; L₃) và (D; L₄)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 trên BC, E vuông góc BC tại M</a:t>
            </a:r>
            <a:endParaRPr lang="en-US" sz="1400" dirty="0"/>
          </a:p>
        </p:txBody>
      </p:sp>
      <p:sp>
        <p:nvSpPr>
          <p:cNvPr id="9" name="Thẻ bước 2"/>
          <p:cNvSpPr/>
          <p:nvPr/>
        </p:nvSpPr>
        <p:spPr>
          <a:xfrm>
            <a:off x="3246120" y="1280160"/>
            <a:ext cx="265176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0" name="Số bước 2"/>
          <p:cNvSpPr/>
          <p:nvPr/>
        </p:nvSpPr>
        <p:spPr>
          <a:xfrm>
            <a:off x="342900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hữ số bước 2"/>
          <p:cNvSpPr txBox="1"/>
          <p:nvPr/>
        </p:nvSpPr>
        <p:spPr>
          <a:xfrm>
            <a:off x="3429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ên bước 2"/>
          <p:cNvSpPr txBox="1"/>
          <p:nvPr/>
        </p:nvSpPr>
        <p:spPr>
          <a:xfrm>
            <a:off x="397764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Vận tốc</a:t>
            </a:r>
            <a:endParaRPr lang="en-US" sz="1800" dirty="0"/>
          </a:p>
        </p:txBody>
      </p:sp>
      <p:sp>
        <p:nvSpPr>
          <p:cNvPr id="13" name="Tên hàm 2"/>
          <p:cNvSpPr txBox="1"/>
          <p:nvPr/>
        </p:nvSpPr>
        <p:spPr>
          <a:xfrm>
            <a:off x="342900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solve_velocities()</a:t>
            </a:r>
            <a:endParaRPr lang="en-US" sz="1200" dirty="0"/>
          </a:p>
        </p:txBody>
      </p:sp>
      <p:sp>
        <p:nvSpPr>
          <p:cNvPr id="14" name="Nội dung bước 2"/>
          <p:cNvSpPr txBox="1"/>
          <p:nvPr/>
        </p:nvSpPr>
        <p:spPr>
          <a:xfrm>
            <a:off x="3429000" y="2377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vB = ω₂ × AB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vC = vB + ω₃ × BC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vC = ω₄ × DC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Giải hệ 2×2 để tìm ω₃, ω₄</a:t>
            </a:r>
            <a:endParaRPr lang="en-US" sz="1400" dirty="0"/>
          </a:p>
        </p:txBody>
      </p:sp>
      <p:sp>
        <p:nvSpPr>
          <p:cNvPr id="15" name="Thẻ bước 3"/>
          <p:cNvSpPr/>
          <p:nvPr/>
        </p:nvSpPr>
        <p:spPr>
          <a:xfrm>
            <a:off x="6035040" y="1280160"/>
            <a:ext cx="265176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6" name="Số bước 3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Chữ số bước 3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ên bước 3"/>
          <p:cNvSpPr txBox="1"/>
          <p:nvPr/>
        </p:nvSpPr>
        <p:spPr>
          <a:xfrm>
            <a:off x="676656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Gia tốc</a:t>
            </a:r>
            <a:endParaRPr lang="en-US" sz="1800" dirty="0"/>
          </a:p>
        </p:txBody>
      </p:sp>
      <p:sp>
        <p:nvSpPr>
          <p:cNvPr id="19" name="Tên hàm 3"/>
          <p:cNvSpPr txBox="1"/>
          <p:nvPr/>
        </p:nvSpPr>
        <p:spPr>
          <a:xfrm>
            <a:off x="62179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solve_accelerations()</a:t>
            </a:r>
            <a:endParaRPr lang="en-US" sz="1200" dirty="0"/>
          </a:p>
        </p:txBody>
      </p:sp>
      <p:sp>
        <p:nvSpPr>
          <p:cNvPr id="20" name="Nội dung bước 3"/>
          <p:cNvSpPr txBox="1"/>
          <p:nvPr/>
        </p:nvSpPr>
        <p:spPr>
          <a:xfrm>
            <a:off x="6217920" y="2377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 = ε₂ × AB − ω₂²·AB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 = aB + ε₃ × BC − ω₃²·BC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Giải hệ 2×2 để tìm ε₃, ε₄</a:t>
            </a:r>
            <a:endParaRPr lang="en-US" sz="1400" dirty="0"/>
          </a:p>
        </p:txBody>
      </p:sp>
      <p:sp>
        <p:nvSpPr>
          <p:cNvPr id="21" name="Khung xử lý lỗi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pic>
        <p:nvPicPr>
          <p:cNvPr id="22" name="Icon cảnh báo" descr="Cảnh bá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23360"/>
            <a:ext cx="320040" cy="320040"/>
          </a:xfrm>
          <a:prstGeom prst="rect">
            <a:avLst/>
          </a:prstGeom>
        </p:spPr>
      </p:pic>
      <p:sp>
        <p:nvSpPr>
          <p:cNvPr id="23" name="Nội dung cảnh báo"/>
          <p:cNvSpPr txBox="1"/>
          <p:nvPr/>
        </p:nvSpPr>
        <p:spPr>
          <a:xfrm>
            <a:off x="1188720" y="3840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Báo lỗi khi vòng B–C–D không khép được, hoặc khi BC ∥ CD (định thức bằng 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Kết quả: họa đồ vận tốc</a:t>
            </a:r>
            <a:endParaRPr lang="en-US" sz="3200" dirty="0"/>
          </a:p>
        </p:txBody>
      </p:sp>
      <p:sp>
        <p:nvSpPr>
          <p:cNvPr id="3" name="Khung ảnh vận tốc"/>
          <p:cNvSpPr/>
          <p:nvPr/>
        </p:nvSpPr>
        <p:spPr>
          <a:xfrm>
            <a:off x="365760" y="1188720"/>
            <a:ext cx="5486400" cy="3392905"/>
          </a:xfrm>
          <a:prstGeom prst="roundRect">
            <a:avLst>
              <a:gd name="adj" fmla="val 2156"/>
            </a:avLst>
          </a:prstGeom>
          <a:solidFill>
            <a:schemeClr val="bg2"/>
          </a:solidFill>
          <a:ln/>
        </p:spPr>
      </p:sp>
      <p:pic>
        <p:nvPicPr>
          <p:cNvPr id="4" name="Ảnh tab vận tốc" descr="Ảnh chụp tab Vận tốc: họa đồ và bảng vận tốc các điể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303520" cy="3210025"/>
          </a:xfrm>
          <a:prstGeom prst="rect">
            <a:avLst/>
          </a:prstGeom>
        </p:spPr>
      </p:pic>
      <p:sp>
        <p:nvSpPr>
          <p:cNvPr id="5" name="Thẻ ω₃ (rad/s) của khâu BC"/>
          <p:cNvSpPr/>
          <p:nvPr/>
        </p:nvSpPr>
        <p:spPr>
          <a:xfrm>
            <a:off x="6126480" y="128016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6" name="Số 15.34"/>
          <p:cNvSpPr txBox="1"/>
          <p:nvPr/>
        </p:nvSpPr>
        <p:spPr>
          <a:xfrm>
            <a:off x="6309360" y="1371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15.34</a:t>
            </a:r>
            <a:endParaRPr lang="en-US" sz="3000" dirty="0"/>
          </a:p>
        </p:txBody>
      </p:sp>
      <p:sp>
        <p:nvSpPr>
          <p:cNvPr id="7" name="Nhãn 15.34"/>
          <p:cNvSpPr txBox="1"/>
          <p:nvPr/>
        </p:nvSpPr>
        <p:spPr>
          <a:xfrm>
            <a:off x="63093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ω₃ (rad/s) của khâu BC</a:t>
            </a:r>
            <a:endParaRPr lang="en-US" sz="1400" dirty="0"/>
          </a:p>
        </p:txBody>
      </p:sp>
      <p:sp>
        <p:nvSpPr>
          <p:cNvPr id="8" name="Thẻ ω₄ (rad/s) của khâu CD"/>
          <p:cNvSpPr/>
          <p:nvPr/>
        </p:nvSpPr>
        <p:spPr>
          <a:xfrm>
            <a:off x="6126480" y="237744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9" name="Số 13.64"/>
          <p:cNvSpPr txBox="1"/>
          <p:nvPr/>
        </p:nvSpPr>
        <p:spPr>
          <a:xfrm>
            <a:off x="630936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13.64</a:t>
            </a:r>
            <a:endParaRPr lang="en-US" sz="3000" dirty="0"/>
          </a:p>
        </p:txBody>
      </p:sp>
      <p:sp>
        <p:nvSpPr>
          <p:cNvPr id="10" name="Nhãn 13.64"/>
          <p:cNvSpPr txBox="1"/>
          <p:nvPr/>
        </p:nvSpPr>
        <p:spPr>
          <a:xfrm>
            <a:off x="630936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ω₄ (rad/s) của khâu CD</a:t>
            </a:r>
            <a:endParaRPr lang="en-US" sz="1400" dirty="0"/>
          </a:p>
        </p:txBody>
      </p:sp>
      <p:sp>
        <p:nvSpPr>
          <p:cNvPr id="11" name="Chú thích kết quả"/>
          <p:cNvSpPr txBox="1"/>
          <p:nvPr/>
        </p:nvSpPr>
        <p:spPr>
          <a:xfrm>
            <a:off x="6126480" y="3474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Bảng vận tốc B, C, M, E và họa đồ vẽ đúng phương, chiều, tỉ lệ (preset PA1)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Dữ liệu vào và kết quả ra</a:t>
            </a:r>
            <a:endParaRPr lang="en-US" sz="3200" dirty="0"/>
          </a:p>
        </p:txBody>
      </p:sp>
      <p:graphicFrame>
        <p:nvGraphicFramePr>
          <p:cNvPr id="9" name="Bảng pres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Thông số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L₂ (m)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L₃ (m)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4.5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φ₂ (độ)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|ω₂| (rad/s)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 cùng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 cùng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|ε₂| (rad/s²)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10, cùng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20, ngược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P₃ (N)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M₄ (N·m)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hú thích bảng"/>
          <p:cNvSpPr txBox="1"/>
          <p:nvPr/>
        </p:nvSpPr>
        <p:spPr>
          <a:xfrm>
            <a:off x="45720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Hai bộ thông số mẫu, nạp bằng một nút</a:t>
            </a:r>
            <a:endParaRPr lang="en-US" sz="1200" dirty="0"/>
          </a:p>
        </p:txBody>
      </p:sp>
      <p:sp>
        <p:nvSpPr>
          <p:cNvPr id="5" name="Icon Mô phỏng nền"/>
          <p:cNvSpPr/>
          <p:nvPr/>
        </p:nvSpPr>
        <p:spPr>
          <a:xfrm>
            <a:off x="493776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Mô phỏng" descr="Icon Mô phỏ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548" y="1415948"/>
            <a:ext cx="231343" cy="231343"/>
          </a:xfrm>
          <a:prstGeom prst="rect">
            <a:avLst/>
          </a:prstGeom>
        </p:spPr>
      </p:pic>
      <p:sp>
        <p:nvSpPr>
          <p:cNvPr id="7" name="Tiêu đề Mô phỏng"/>
          <p:cNvSpPr txBox="1"/>
          <p:nvPr/>
        </p:nvSpPr>
        <p:spPr>
          <a:xfrm>
            <a:off x="5623560" y="1280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Mô phỏng</a:t>
            </a:r>
            <a:endParaRPr lang="en-US" sz="1600" dirty="0"/>
          </a:p>
        </p:txBody>
      </p:sp>
      <p:sp>
        <p:nvSpPr>
          <p:cNvPr id="8" name="Mô tả Mô phỏng"/>
          <p:cNvSpPr txBox="1"/>
          <p:nvPr/>
        </p:nvSpPr>
        <p:spPr>
          <a:xfrm>
            <a:off x="5623560" y="1572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Quay φ₂ theo chiều ω₂, khoảng 30 khung/giây, quỹ đạo B, C, M, E</a:t>
            </a:r>
            <a:endParaRPr lang="en-US" sz="1400" dirty="0"/>
          </a:p>
        </p:txBody>
      </p:sp>
      <p:sp>
        <p:nvSpPr>
          <p:cNvPr id="9" name="Icon Lịch sử nền"/>
          <p:cNvSpPr/>
          <p:nvPr/>
        </p:nvSpPr>
        <p:spPr>
          <a:xfrm>
            <a:off x="4937760" y="2377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Lịch sử" descr="Icon Lịch s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2513228"/>
            <a:ext cx="231343" cy="231343"/>
          </a:xfrm>
          <a:prstGeom prst="rect">
            <a:avLst/>
          </a:prstGeom>
        </p:spPr>
      </p:pic>
      <p:sp>
        <p:nvSpPr>
          <p:cNvPr id="11" name="Tiêu đề Lịch sử"/>
          <p:cNvSpPr txBox="1"/>
          <p:nvPr/>
        </p:nvSpPr>
        <p:spPr>
          <a:xfrm>
            <a:off x="5623560" y="2377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Lịch sử</a:t>
            </a:r>
            <a:endParaRPr lang="en-US" sz="1600" dirty="0"/>
          </a:p>
        </p:txBody>
      </p:sp>
      <p:sp>
        <p:nvSpPr>
          <p:cNvPr id="12" name="Mô tả Lịch sử"/>
          <p:cNvSpPr txBox="1"/>
          <p:nvPr/>
        </p:nvSpPr>
        <p:spPr>
          <a:xfrm>
            <a:off x="5623560" y="26700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Lưu bộ thông số vào file JSON, nạp lại hoặc xóa</a:t>
            </a:r>
            <a:endParaRPr lang="en-US" sz="1400" dirty="0"/>
          </a:p>
        </p:txBody>
      </p:sp>
      <p:sp>
        <p:nvSpPr>
          <p:cNvPr id="13" name="Icon Xuất kết quả nền"/>
          <p:cNvSpPr/>
          <p:nvPr/>
        </p:nvSpPr>
        <p:spPr>
          <a:xfrm>
            <a:off x="4937760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Xuất kết quả" descr="Icon Xuất kết quả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48" y="3610508"/>
            <a:ext cx="231343" cy="231343"/>
          </a:xfrm>
          <a:prstGeom prst="rect">
            <a:avLst/>
          </a:prstGeom>
        </p:spPr>
      </p:pic>
      <p:sp>
        <p:nvSpPr>
          <p:cNvPr id="15" name="Tiêu đề Xuất kết quả"/>
          <p:cNvSpPr txBox="1"/>
          <p:nvPr/>
        </p:nvSpPr>
        <p:spPr>
          <a:xfrm>
            <a:off x="562356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Xuất kết quả</a:t>
            </a:r>
            <a:endParaRPr lang="en-US" sz="1600" dirty="0"/>
          </a:p>
        </p:txBody>
      </p:sp>
      <p:sp>
        <p:nvSpPr>
          <p:cNvPr id="16" name="Mô tả Xuất kết quả"/>
          <p:cNvSpPr txBox="1"/>
          <p:nvPr/>
        </p:nvSpPr>
        <p:spPr>
          <a:xfrm>
            <a:off x="5623560" y="37673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Ảnh lược đồ và họa đồ (PNG/PDF) cùng báo cáo TXT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Tổng kết</a:t>
            </a:r>
            <a:endParaRPr lang="en-US" sz="3200" dirty="0"/>
          </a:p>
        </p:txBody>
      </p:sp>
      <p:sp>
        <p:nvSpPr>
          <p:cNvPr id="3" name="Icon ý 1 nền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ý 1" descr="Icon ý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95044"/>
            <a:ext cx="210312" cy="210312"/>
          </a:xfrm>
          <a:prstGeom prst="rect">
            <a:avLst/>
          </a:prstGeom>
        </p:spPr>
      </p:pic>
      <p:sp>
        <p:nvSpPr>
          <p:cNvPr id="5" name="Ý tổng kết 1"/>
          <p:cNvSpPr txBox="1"/>
          <p:nvPr/>
        </p:nvSpPr>
        <p:spPr>
          <a:xfrm>
            <a:off x="1143000" y="1325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Một ứng dụng gom đủ: nhập, tính, vẽ, mô phỏng, xuất</a:t>
            </a:r>
            <a:endParaRPr lang="en-US" sz="1800" dirty="0"/>
          </a:p>
        </p:txBody>
      </p:sp>
      <p:sp>
        <p:nvSpPr>
          <p:cNvPr id="6" name="Icon ý 2 nền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ý 2" descr="Icon ý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500884"/>
            <a:ext cx="210312" cy="210312"/>
          </a:xfrm>
          <a:prstGeom prst="rect">
            <a:avLst/>
          </a:prstGeom>
        </p:spPr>
      </p:pic>
      <p:sp>
        <p:nvSpPr>
          <p:cNvPr id="8" name="Ý tổng kết 2"/>
          <p:cNvSpPr txBox="1"/>
          <p:nvPr/>
        </p:nvSpPr>
        <p:spPr>
          <a:xfrm>
            <a:off x="1143000" y="2331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Giải bằng phương trình vectơ và numpy, giữ cố định nhánh lắp ráp</a:t>
            </a:r>
            <a:endParaRPr lang="en-US" sz="1800" dirty="0"/>
          </a:p>
        </p:txBody>
      </p:sp>
      <p:sp>
        <p:nvSpPr>
          <p:cNvPr id="9" name="Icon ý 3 nền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ý 3" descr="Icon ý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506724"/>
            <a:ext cx="210312" cy="210312"/>
          </a:xfrm>
          <a:prstGeom prst="rect">
            <a:avLst/>
          </a:prstGeom>
        </p:spPr>
      </p:pic>
      <p:sp>
        <p:nvSpPr>
          <p:cNvPr id="11" name="Ý tổng kết 3"/>
          <p:cNvSpPr txBox="1"/>
          <p:nvPr/>
        </p:nvSpPr>
        <p:spPr>
          <a:xfrm>
            <a:off x="1143000" y="33375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Quy ước dấu rõ ràng: góc quay dương là ngược chiều kim đồng hồ</a:t>
            </a:r>
            <a:endParaRPr lang="en-US" sz="1800" dirty="0"/>
          </a:p>
        </p:txBody>
      </p:sp>
      <p:sp>
        <p:nvSpPr>
          <p:cNvPr id="12" name="Khung cách chạy"/>
          <p:cNvSpPr/>
          <p:nvPr/>
        </p:nvSpPr>
        <p:spPr>
          <a:xfrm>
            <a:off x="5669280" y="1371600"/>
            <a:ext cx="3017520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13" name="Tiêu đề cách chạy"/>
          <p:cNvSpPr txBox="1"/>
          <p:nvPr/>
        </p:nvSpPr>
        <p:spPr>
          <a:xfrm>
            <a:off x="589788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Cách chạy</a:t>
            </a:r>
            <a:endParaRPr lang="en-US" sz="1600" dirty="0"/>
          </a:p>
        </p:txBody>
      </p:sp>
      <p:sp>
        <p:nvSpPr>
          <p:cNvPr id="14" name="Khung lệnh"/>
          <p:cNvSpPr/>
          <p:nvPr/>
        </p:nvSpPr>
        <p:spPr>
          <a:xfrm>
            <a:off x="5897880" y="2011680"/>
            <a:ext cx="25603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15" name="Lệnh chạy"/>
          <p:cNvSpPr txBox="1"/>
          <p:nvPr/>
        </p:nvSpPr>
        <p:spPr>
          <a:xfrm>
            <a:off x="589788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v2.py</a:t>
            </a:r>
            <a:endParaRPr lang="en-US" sz="1800" dirty="0"/>
          </a:p>
        </p:txBody>
      </p:sp>
      <p:sp>
        <p:nvSpPr>
          <p:cNvPr id="16" name="Yêu cầu thư viện"/>
          <p:cNvSpPr txBox="1"/>
          <p:nvPr/>
        </p:nvSpPr>
        <p:spPr>
          <a:xfrm>
            <a:off x="5897880" y="2880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Cần cài: tkinter, numpy, matplotlib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Cau4Khau">
  <a:themeElements>
    <a:clrScheme name="CoCau4Khau">
      <a:dk1>
        <a:srgbClr val="0B1120"/>
      </a:dk1>
      <a:lt1>
        <a:srgbClr val="FFFFFF"/>
      </a:lt1>
      <a:dk2>
        <a:srgbClr val="475569"/>
      </a:dk2>
      <a:lt2>
        <a:srgbClr val="EEF2F7"/>
      </a:lt2>
      <a:accent1>
        <a:srgbClr val="0369A1"/>
      </a:accent1>
      <a:accent2>
        <a:srgbClr val="38BDF8"/>
      </a:accent2>
      <a:accent3>
        <a:srgbClr val="EA580C"/>
      </a:accent3>
      <a:accent4>
        <a:srgbClr val="0F9D58"/>
      </a:accent4>
      <a:accent5>
        <a:srgbClr val="7C3AED"/>
      </a:accent5>
      <a:accent6>
        <a:srgbClr val="DB2777"/>
      </a:accent6>
      <a:hlink>
        <a:srgbClr val="0369A1"/>
      </a:hlink>
      <a:folHlink>
        <a:srgbClr val="7C3AED"/>
      </a:folHlink>
    </a:clrScheme>
    <a:fontScheme name="CoCau4Kha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cấu 4 khâu bản lề – v2.py</dc:title>
  <dc:subject>PptxGenJS Presentation</dc:subject>
  <dc:creator>PptxGenJS</dc:creator>
  <cp:lastModifiedBy>PptxGenJS</cp:lastModifiedBy>
  <cp:revision>1</cp:revision>
  <dcterms:created xsi:type="dcterms:W3CDTF">2026-10-30T00:33:44Z</dcterms:created>
  <dcterms:modified xsi:type="dcterms:W3CDTF">2026-10-30T00:33:44Z</dcterms:modified>
</cp:coreProperties>
</file>